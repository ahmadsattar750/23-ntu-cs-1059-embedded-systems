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12/21/2025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B1D0F-F48A-435C-9000-9B197CDD9B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Luggage tracker and monitoring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966838-51EE-44E2-9C9C-659B12DE23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1930029"/>
          </a:xfrm>
        </p:spPr>
        <p:txBody>
          <a:bodyPr>
            <a:normAutofit/>
          </a:bodyPr>
          <a:lstStyle/>
          <a:p>
            <a:r>
              <a:rPr lang="en-US" dirty="0"/>
              <a:t>23-NTU-CS-1059 (Ahmad sattar)</a:t>
            </a:r>
          </a:p>
          <a:p>
            <a:r>
              <a:rPr lang="en-US" dirty="0"/>
              <a:t>23-NTU-CS-1052 (ABU OBAIDA)</a:t>
            </a:r>
          </a:p>
          <a:p>
            <a:r>
              <a:rPr lang="en-US" dirty="0"/>
              <a:t>23-NTU-CS-1072 (SAAD EHTSHAM)</a:t>
            </a:r>
          </a:p>
        </p:txBody>
      </p:sp>
    </p:spTree>
    <p:extLst>
      <p:ext uri="{BB962C8B-B14F-4D97-AF65-F5344CB8AC3E}">
        <p14:creationId xmlns:p14="http://schemas.microsoft.com/office/powerpoint/2010/main" val="3940155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C33B7-3A88-4314-B667-26C270DBD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E904D-E0A2-4712-96E5-A00B9419E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IoT-based luggage tracking system</a:t>
            </a:r>
          </a:p>
          <a:p>
            <a:r>
              <a:rPr lang="en-US" dirty="0"/>
              <a:t>Real-time location monitoring</a:t>
            </a:r>
          </a:p>
          <a:p>
            <a:r>
              <a:rPr lang="en-US" dirty="0"/>
              <a:t>Motion &amp; tampering detection</a:t>
            </a:r>
          </a:p>
          <a:p>
            <a:r>
              <a:rPr lang="en-US" dirty="0"/>
              <a:t>Web-based monitoring using Blynk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266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D40C-B79C-4A8C-9B5C-47BA4172F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DFA5B-07A2-4775-BA2A-03DE1A485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Luggage loss and theft during travel</a:t>
            </a:r>
          </a:p>
          <a:p>
            <a:r>
              <a:rPr lang="en-US" dirty="0"/>
              <a:t>Lack of affordable real-time tracking</a:t>
            </a:r>
          </a:p>
          <a:p>
            <a:r>
              <a:rPr lang="en-US" dirty="0"/>
              <a:t>Need for smart security solution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763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D0A99-975D-4708-947C-19B5B59FC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A55DB-79BB-4329-8316-DE7869E4C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Real-time GPS tracking</a:t>
            </a:r>
          </a:p>
          <a:p>
            <a:r>
              <a:rPr lang="en-US" dirty="0"/>
              <a:t>Motion &amp; bag opening detection</a:t>
            </a:r>
          </a:p>
          <a:p>
            <a:r>
              <a:rPr lang="en-US" dirty="0"/>
              <a:t>Environmental monitoring</a:t>
            </a:r>
          </a:p>
          <a:p>
            <a:r>
              <a:rPr lang="en-US" dirty="0"/>
              <a:t>Web-based alerts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214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BB7AC-F517-4E16-8CD8-D3CB72546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F1CB2-D930-4096-B8B4-46E29CB14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ESP32 Microcontroller</a:t>
            </a:r>
          </a:p>
          <a:p>
            <a:r>
              <a:rPr lang="en-US" dirty="0"/>
              <a:t>GPS NEO-6M</a:t>
            </a:r>
          </a:p>
          <a:p>
            <a:r>
              <a:rPr lang="en-US" dirty="0"/>
              <a:t>PIR Motion Sensor</a:t>
            </a:r>
          </a:p>
          <a:p>
            <a:r>
              <a:rPr lang="en-US" dirty="0"/>
              <a:t>DHT11 Sensor</a:t>
            </a:r>
          </a:p>
          <a:p>
            <a:r>
              <a:rPr lang="en-US" dirty="0"/>
              <a:t>LDR Sensor</a:t>
            </a:r>
          </a:p>
          <a:p>
            <a:r>
              <a:rPr lang="en-US" dirty="0"/>
              <a:t>OLED Display</a:t>
            </a:r>
          </a:p>
          <a:p>
            <a:r>
              <a:rPr lang="en-US" dirty="0"/>
              <a:t>Buzzer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197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9FE98-AE75-4C97-B699-74DC2E3D2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&amp; Platform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7A9EE-A573-44B1-B80E-688351ED3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Platform I/O</a:t>
            </a:r>
          </a:p>
          <a:p>
            <a:r>
              <a:rPr lang="en-US" dirty="0"/>
              <a:t>ESP32 Programming</a:t>
            </a:r>
          </a:p>
          <a:p>
            <a:r>
              <a:rPr lang="en-US" dirty="0"/>
              <a:t>Blynk Cloud</a:t>
            </a:r>
          </a:p>
          <a:p>
            <a:r>
              <a:rPr lang="en-US" dirty="0"/>
              <a:t>Blynk Web Dashboard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295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E0096-0FBD-44E6-8C45-D3D8C060E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 DIAGRAM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2823089-369D-43C5-9BFB-82AB1F56041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5045" y="1853754"/>
            <a:ext cx="4278386" cy="42702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8001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A0500-A83F-44B0-93EA-CD39C4068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Data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4573F-2C28-4B57-9247-2C626CE8A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Sensors send data to ESP32</a:t>
            </a:r>
          </a:p>
          <a:p>
            <a:r>
              <a:rPr lang="en-US" dirty="0"/>
              <a:t>ESP32 processes data</a:t>
            </a:r>
          </a:p>
          <a:p>
            <a:r>
              <a:rPr lang="en-US" dirty="0"/>
              <a:t>Alerts via buzzer</a:t>
            </a:r>
          </a:p>
          <a:p>
            <a:r>
              <a:rPr lang="en-US" dirty="0"/>
              <a:t>Data sent to Blynk Cloud</a:t>
            </a:r>
          </a:p>
          <a:p>
            <a:r>
              <a:rPr lang="en-US" dirty="0"/>
              <a:t>Displayed on Blynk Web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363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41D4A-7470-4251-AA26-EDD2BA949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Pin Mapping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C0819B9-6FAB-4E69-90F1-127FB32159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3061427"/>
              </p:ext>
            </p:extLst>
          </p:nvPr>
        </p:nvGraphicFramePr>
        <p:xfrm>
          <a:off x="2701256" y="1929465"/>
          <a:ext cx="6719580" cy="41240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43916">
                  <a:extLst>
                    <a:ext uri="{9D8B030D-6E8A-4147-A177-3AD203B41FA5}">
                      <a16:colId xmlns:a16="http://schemas.microsoft.com/office/drawing/2014/main" val="1505087573"/>
                    </a:ext>
                  </a:extLst>
                </a:gridCol>
                <a:gridCol w="1343916">
                  <a:extLst>
                    <a:ext uri="{9D8B030D-6E8A-4147-A177-3AD203B41FA5}">
                      <a16:colId xmlns:a16="http://schemas.microsoft.com/office/drawing/2014/main" val="1872591856"/>
                    </a:ext>
                  </a:extLst>
                </a:gridCol>
                <a:gridCol w="1343916">
                  <a:extLst>
                    <a:ext uri="{9D8B030D-6E8A-4147-A177-3AD203B41FA5}">
                      <a16:colId xmlns:a16="http://schemas.microsoft.com/office/drawing/2014/main" val="1776260593"/>
                    </a:ext>
                  </a:extLst>
                </a:gridCol>
                <a:gridCol w="1343916">
                  <a:extLst>
                    <a:ext uri="{9D8B030D-6E8A-4147-A177-3AD203B41FA5}">
                      <a16:colId xmlns:a16="http://schemas.microsoft.com/office/drawing/2014/main" val="3740978723"/>
                    </a:ext>
                  </a:extLst>
                </a:gridCol>
                <a:gridCol w="1343916">
                  <a:extLst>
                    <a:ext uri="{9D8B030D-6E8A-4147-A177-3AD203B41FA5}">
                      <a16:colId xmlns:a16="http://schemas.microsoft.com/office/drawing/2014/main" val="1002967928"/>
                    </a:ext>
                  </a:extLst>
                </a:gridCol>
              </a:tblGrid>
              <a:tr h="18006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#                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Component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Signal / Pins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ESP32 GPIO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Power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extLst>
                  <a:ext uri="{0D108BD9-81ED-4DB2-BD59-A6C34878D82A}">
                    <a16:rowId xmlns:a16="http://schemas.microsoft.com/office/drawing/2014/main" val="553471574"/>
                  </a:ext>
                </a:extLst>
              </a:tr>
              <a:tr h="3594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DHT11 (Temp &amp; Humidity)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DATA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GPIO 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3.3V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extLst>
                  <a:ext uri="{0D108BD9-81ED-4DB2-BD59-A6C34878D82A}">
                    <a16:rowId xmlns:a16="http://schemas.microsoft.com/office/drawing/2014/main" val="585104250"/>
                  </a:ext>
                </a:extLst>
              </a:tr>
              <a:tr h="180067"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VCC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3.3V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extLst>
                  <a:ext uri="{0D108BD9-81ED-4DB2-BD59-A6C34878D82A}">
                    <a16:rowId xmlns:a16="http://schemas.microsoft.com/office/drawing/2014/main" val="1462436963"/>
                  </a:ext>
                </a:extLst>
              </a:tr>
              <a:tr h="180067"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GND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GND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extLst>
                  <a:ext uri="{0D108BD9-81ED-4DB2-BD59-A6C34878D82A}">
                    <a16:rowId xmlns:a16="http://schemas.microsoft.com/office/drawing/2014/main" val="750176710"/>
                  </a:ext>
                </a:extLst>
              </a:tr>
              <a:tr h="3594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PIR Motion Sensor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OUT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GPIO 27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5V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extLst>
                  <a:ext uri="{0D108BD9-81ED-4DB2-BD59-A6C34878D82A}">
                    <a16:rowId xmlns:a16="http://schemas.microsoft.com/office/drawing/2014/main" val="1562813939"/>
                  </a:ext>
                </a:extLst>
              </a:tr>
              <a:tr h="180067"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VCC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5V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extLst>
                  <a:ext uri="{0D108BD9-81ED-4DB2-BD59-A6C34878D82A}">
                    <a16:rowId xmlns:a16="http://schemas.microsoft.com/office/drawing/2014/main" val="337289382"/>
                  </a:ext>
                </a:extLst>
              </a:tr>
              <a:tr h="180067"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GND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GND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extLst>
                  <a:ext uri="{0D108BD9-81ED-4DB2-BD59-A6C34878D82A}">
                    <a16:rowId xmlns:a16="http://schemas.microsoft.com/office/drawing/2014/main" val="1448462162"/>
                  </a:ext>
                </a:extLst>
              </a:tr>
              <a:tr h="3594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LDR (Light Sensor)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Analog Signal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GPIO 34 (ADC)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3.3V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extLst>
                  <a:ext uri="{0D108BD9-81ED-4DB2-BD59-A6C34878D82A}">
                    <a16:rowId xmlns:a16="http://schemas.microsoft.com/office/drawing/2014/main" val="1635459817"/>
                  </a:ext>
                </a:extLst>
              </a:tr>
              <a:tr h="180067"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GND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GND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extLst>
                  <a:ext uri="{0D108BD9-81ED-4DB2-BD59-A6C34878D82A}">
                    <a16:rowId xmlns:a16="http://schemas.microsoft.com/office/drawing/2014/main" val="3102058168"/>
                  </a:ext>
                </a:extLst>
              </a:tr>
              <a:tr h="18006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Buzzer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+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GPIO 26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—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extLst>
                  <a:ext uri="{0D108BD9-81ED-4DB2-BD59-A6C34878D82A}">
                    <a16:rowId xmlns:a16="http://schemas.microsoft.com/office/drawing/2014/main" val="4062479402"/>
                  </a:ext>
                </a:extLst>
              </a:tr>
              <a:tr h="175103"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−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GND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extLst>
                  <a:ext uri="{0D108BD9-81ED-4DB2-BD59-A6C34878D82A}">
                    <a16:rowId xmlns:a16="http://schemas.microsoft.com/office/drawing/2014/main" val="3376001459"/>
                  </a:ext>
                </a:extLst>
              </a:tr>
              <a:tr h="18006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GPS NEO‑6M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TX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GPIO 16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3.3V / 5V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extLst>
                  <a:ext uri="{0D108BD9-81ED-4DB2-BD59-A6C34878D82A}">
                    <a16:rowId xmlns:a16="http://schemas.microsoft.com/office/drawing/2014/main" val="1676931001"/>
                  </a:ext>
                </a:extLst>
              </a:tr>
              <a:tr h="180067"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RX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GPIO 17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extLst>
                  <a:ext uri="{0D108BD9-81ED-4DB2-BD59-A6C34878D82A}">
                    <a16:rowId xmlns:a16="http://schemas.microsoft.com/office/drawing/2014/main" val="1076959572"/>
                  </a:ext>
                </a:extLst>
              </a:tr>
              <a:tr h="175103"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VCC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3.3V / 5V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extLst>
                  <a:ext uri="{0D108BD9-81ED-4DB2-BD59-A6C34878D82A}">
                    <a16:rowId xmlns:a16="http://schemas.microsoft.com/office/drawing/2014/main" val="2225468501"/>
                  </a:ext>
                </a:extLst>
              </a:tr>
              <a:tr h="180067"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GND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GND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extLst>
                  <a:ext uri="{0D108BD9-81ED-4DB2-BD59-A6C34878D82A}">
                    <a16:rowId xmlns:a16="http://schemas.microsoft.com/office/drawing/2014/main" val="3842845590"/>
                  </a:ext>
                </a:extLst>
              </a:tr>
              <a:tr h="35947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OLED SSD1306 (I2C)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SDA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GPIO 21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3.3V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extLst>
                  <a:ext uri="{0D108BD9-81ED-4DB2-BD59-A6C34878D82A}">
                    <a16:rowId xmlns:a16="http://schemas.microsoft.com/office/drawing/2014/main" val="1934346470"/>
                  </a:ext>
                </a:extLst>
              </a:tr>
              <a:tr h="175103"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SCL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GPIO 22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extLst>
                  <a:ext uri="{0D108BD9-81ED-4DB2-BD59-A6C34878D82A}">
                    <a16:rowId xmlns:a16="http://schemas.microsoft.com/office/drawing/2014/main" val="3247729371"/>
                  </a:ext>
                </a:extLst>
              </a:tr>
              <a:tr h="180067"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VCC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3.3V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extLst>
                  <a:ext uri="{0D108BD9-81ED-4DB2-BD59-A6C34878D82A}">
                    <a16:rowId xmlns:a16="http://schemas.microsoft.com/office/drawing/2014/main" val="1182017676"/>
                  </a:ext>
                </a:extLst>
              </a:tr>
              <a:tr h="180067"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endParaRPr lang="en-US" sz="9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GND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GND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tc>
                  <a:txBody>
                    <a:bodyPr/>
                    <a:lstStyle/>
                    <a:p>
                      <a:endParaRPr lang="en-US" sz="9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4044" marR="54044" marT="0" marB="0"/>
                </a:tc>
                <a:extLst>
                  <a:ext uri="{0D108BD9-81ED-4DB2-BD59-A6C34878D82A}">
                    <a16:rowId xmlns:a16="http://schemas.microsoft.com/office/drawing/2014/main" val="1023364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7058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32BD0-58FF-4BD5-93D0-4BE57559F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MAP (BLYNK)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F0C5DB-A2D4-4530-B79F-607C14CE6B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8786308"/>
              </p:ext>
            </p:extLst>
          </p:nvPr>
        </p:nvGraphicFramePr>
        <p:xfrm>
          <a:off x="2648308" y="1949570"/>
          <a:ext cx="6987396" cy="40285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29132">
                  <a:extLst>
                    <a:ext uri="{9D8B030D-6E8A-4147-A177-3AD203B41FA5}">
                      <a16:colId xmlns:a16="http://schemas.microsoft.com/office/drawing/2014/main" val="2568077265"/>
                    </a:ext>
                  </a:extLst>
                </a:gridCol>
                <a:gridCol w="2329132">
                  <a:extLst>
                    <a:ext uri="{9D8B030D-6E8A-4147-A177-3AD203B41FA5}">
                      <a16:colId xmlns:a16="http://schemas.microsoft.com/office/drawing/2014/main" val="2813546808"/>
                    </a:ext>
                  </a:extLst>
                </a:gridCol>
                <a:gridCol w="2329132">
                  <a:extLst>
                    <a:ext uri="{9D8B030D-6E8A-4147-A177-3AD203B41FA5}">
                      <a16:colId xmlns:a16="http://schemas.microsoft.com/office/drawing/2014/main" val="3630579479"/>
                    </a:ext>
                  </a:extLst>
                </a:gridCol>
              </a:tblGrid>
              <a:tr h="3992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Sensor / Data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Blynk Virtual Pin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Data Type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9397029"/>
                  </a:ext>
                </a:extLst>
              </a:tr>
              <a:tr h="44947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 Temperature (DHT11)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V0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Float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36177094"/>
                  </a:ext>
                </a:extLst>
              </a:tr>
              <a:tr h="44947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 Humidity (DHT11)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V1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Float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42716017"/>
                  </a:ext>
                </a:extLst>
              </a:tr>
              <a:tr h="46622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 LDR (Light value)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V2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22132836"/>
                  </a:ext>
                </a:extLst>
              </a:tr>
              <a:tr h="44947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 PIR Motion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V3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 / 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48356577"/>
                  </a:ext>
                </a:extLst>
              </a:tr>
              <a:tr h="44947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 GPS Latitude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V10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Double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80126400"/>
                  </a:ext>
                </a:extLst>
              </a:tr>
              <a:tr h="44947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 GPS Longitude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V11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Double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87321435"/>
                  </a:ext>
                </a:extLst>
              </a:tr>
              <a:tr h="46622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 GPS Satellites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V12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Integer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01825589"/>
                  </a:ext>
                </a:extLst>
              </a:tr>
              <a:tr h="44947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 GPS Altitude (m)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V13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Double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76172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4620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8E238-08EA-48D7-9841-B1054646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6A390-57EF-45C4-9B1C-57F48B643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143528"/>
          </a:xfrm>
        </p:spPr>
        <p:txBody>
          <a:bodyPr/>
          <a:lstStyle/>
          <a:p>
            <a:r>
              <a:rPr lang="en-US" dirty="0"/>
              <a:t>The Smart Luggage Tracking and Monitoring System provides a reliable solution for luggage security during travel.</a:t>
            </a:r>
          </a:p>
          <a:p>
            <a:r>
              <a:rPr lang="en-US" dirty="0"/>
              <a:t>The system successfully integrates ESP32, GPS, and multiple sensors for real-time tracking and monitoring.</a:t>
            </a:r>
          </a:p>
          <a:p>
            <a:r>
              <a:rPr lang="en-US" dirty="0"/>
              <a:t>Motion detection and bag opening detection enhance theft prevention.</a:t>
            </a:r>
          </a:p>
          <a:p>
            <a:r>
              <a:rPr lang="en-US" dirty="0"/>
              <a:t>Data visualization through the Blynk Web Dashboard enables remote monitoring via a web browser.</a:t>
            </a:r>
          </a:p>
          <a:p>
            <a:r>
              <a:rPr lang="en-US" dirty="0"/>
              <a:t>The project demonstrates an effective application of IoT technology for real-world security problems.</a:t>
            </a:r>
          </a:p>
        </p:txBody>
      </p:sp>
    </p:spTree>
    <p:extLst>
      <p:ext uri="{BB962C8B-B14F-4D97-AF65-F5344CB8AC3E}">
        <p14:creationId xmlns:p14="http://schemas.microsoft.com/office/powerpoint/2010/main" val="312160773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{738C7166-7EDD-4C4B-8710-363F2A6D353D}TFc986dd65-aaf0-4d5c-bef9-9c391ee05f7b738e0fce-4a319d133af4</Template>
  <TotalTime>26</TotalTime>
  <Words>360</Words>
  <Application>Microsoft Office PowerPoint</Application>
  <PresentationFormat>Widescreen</PresentationFormat>
  <Paragraphs>132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Gill Sans MT</vt:lpstr>
      <vt:lpstr>Gallery</vt:lpstr>
      <vt:lpstr>Luggage tracker and monitoring system</vt:lpstr>
      <vt:lpstr>Project Overview</vt:lpstr>
      <vt:lpstr>Problem Statement</vt:lpstr>
      <vt:lpstr>Objectives</vt:lpstr>
      <vt:lpstr>Hardware Components</vt:lpstr>
      <vt:lpstr>Software &amp; Platform</vt:lpstr>
      <vt:lpstr>CIRCUIT DIAGRAM</vt:lpstr>
      <vt:lpstr>System Data Flow</vt:lpstr>
      <vt:lpstr>Pin Mapping</vt:lpstr>
      <vt:lpstr>DATA MAP (BLYNK)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Luggage tracker and monitoring system</dc:title>
  <dc:creator>saad ehtsham</dc:creator>
  <cp:lastModifiedBy>saad ehtsham</cp:lastModifiedBy>
  <cp:revision>10</cp:revision>
  <dcterms:created xsi:type="dcterms:W3CDTF">2025-12-21T11:07:07Z</dcterms:created>
  <dcterms:modified xsi:type="dcterms:W3CDTF">2025-12-21T11:33:43Z</dcterms:modified>
</cp:coreProperties>
</file>